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media/image2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336789-61E8-4129-91FD-9F96704739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979560"/>
            <a:ext cx="8229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2873520"/>
            <a:ext cx="8229600" cy="333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709"/>
              </a:spcBef>
              <a:buNone/>
            </a:pPr>
            <a:endParaRPr lang="en-GB" sz="387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30A4D9-EA3E-4306-97A0-3EFDFC5B4F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979560"/>
            <a:ext cx="8229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2873520"/>
            <a:ext cx="4015800" cy="158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709"/>
              </a:spcBef>
              <a:buNone/>
            </a:pPr>
            <a:endParaRPr lang="en-GB" sz="387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2873520"/>
            <a:ext cx="4015800" cy="158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709"/>
              </a:spcBef>
              <a:buNone/>
            </a:pPr>
            <a:endParaRPr lang="en-GB" sz="387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4613400"/>
            <a:ext cx="4015800" cy="158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709"/>
              </a:spcBef>
              <a:buNone/>
            </a:pPr>
            <a:endParaRPr lang="en-GB" sz="387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/>
          </p:nvPr>
        </p:nvSpPr>
        <p:spPr>
          <a:xfrm>
            <a:off x="4674240" y="4613400"/>
            <a:ext cx="4015800" cy="158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709"/>
              </a:spcBef>
              <a:buNone/>
            </a:pPr>
            <a:endParaRPr lang="en-GB" sz="387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BC851D-5675-4723-80FF-532C5F0315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979560"/>
            <a:ext cx="8229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457200" y="2873520"/>
            <a:ext cx="8229600" cy="333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CB5252-B4F2-4B6D-A10F-4301B6A87B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979560"/>
            <a:ext cx="8229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CE6504-F879-48E7-A2A8-CD9CB4974B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F5C7A6-156B-4504-B360-2F103668AC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979560"/>
            <a:ext cx="8229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GB" sz="532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2873520"/>
            <a:ext cx="8229600" cy="33310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70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87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GB" sz="387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864000" lvl="1" indent="-324000">
              <a:spcBef>
                <a:spcPts val="136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29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Second Outline Level</a:t>
            </a:r>
            <a:endParaRPr lang="en-GB" sz="2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1296000" lvl="2" indent="-288000">
              <a:spcBef>
                <a:spcPts val="1026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18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Third Outline Level</a:t>
            </a:r>
            <a:endParaRPr lang="en-GB" sz="218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1728000" lvl="3" indent="-216000">
              <a:spcBef>
                <a:spcPts val="683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GB" sz="181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Fourth Outline Level</a:t>
            </a:r>
            <a:endParaRPr lang="en-GB" sz="181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160000" lvl="4" indent="-216000">
              <a:spcBef>
                <a:spcPts val="34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19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Fifth Outline Level</a:t>
            </a:r>
            <a:endParaRPr lang="en-GB" sz="219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2592000" lvl="5" indent="-216000">
              <a:spcBef>
                <a:spcPts val="411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64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Sixth Outline Level</a:t>
            </a:r>
            <a:endParaRPr lang="en-GB" sz="264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024000" lvl="6" indent="-216000">
              <a:spcBef>
                <a:spcPts val="496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Seventh Outline Level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457200" y="6247080"/>
            <a:ext cx="2130120" cy="47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3126960" y="6247080"/>
            <a:ext cx="2898360" cy="47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6555960" y="6247080"/>
            <a:ext cx="2130120" cy="47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E99847D-A7DD-4F14-9253-4114ED1901F3}" type="slidenum">
              <a:rPr lang="en-GB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</a:t>
            </a:fld>
            <a:endParaRPr lang="en-GB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457200" y="979560"/>
            <a:ext cx="8229600" cy="550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r>
              <a:rPr lang="en-GB" sz="5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Quagga Automation Pipeline Prototype</a:t>
            </a:r>
            <a:endParaRPr lang="en-GB" sz="5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ctr"/>
            <a:r>
              <a:rPr lang="en-GB" sz="3200" b="0" u="none" strike="noStrike">
                <a:solidFill>
                  <a:srgbClr val="dee6ef"/>
                </a:solidFill>
                <a:effectLst/>
                <a:uFillTx/>
                <a:latin typeface="Times New Roman"/>
              </a:rPr>
              <a:t>Polina Proutskova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algn="ctr"/>
            <a:endParaRPr lang="en-GB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"/>
          <p:cNvPicPr/>
          <p:nvPr/>
        </p:nvPicPr>
        <p:blipFill>
          <a:blip r:embed="rId1"/>
          <a:stretch/>
        </p:blipFill>
        <p:spPr>
          <a:xfrm>
            <a:off x="72000" y="1514160"/>
            <a:ext cx="9000000" cy="527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32560"/>
            <a:ext cx="8229600" cy="128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GB" sz="532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Quagga </a:t>
            </a: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/>
          <p:cNvPicPr/>
          <p:nvPr/>
        </p:nvPicPr>
        <p:blipFill>
          <a:blip r:embed="rId1"/>
          <a:srcRect l="0" t="1857" r="0" b="1025"/>
          <a:stretch/>
        </p:blipFill>
        <p:spPr>
          <a:xfrm>
            <a:off x="1080000" y="108000"/>
            <a:ext cx="7300080" cy="66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32560"/>
            <a:ext cx="8229600" cy="128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GB" sz="532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Quagga </a:t>
            </a: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32560"/>
            <a:ext cx="8229600" cy="1281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GB" sz="532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Quagga </a:t>
            </a: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756000" y="177480"/>
            <a:ext cx="7740000" cy="657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10400" y="360000"/>
            <a:ext cx="8229600" cy="100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SPARQL and NL phrases sources </a:t>
            </a:r>
            <a:endParaRPr lang="en-GB" sz="4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1342080" y="2011320"/>
            <a:ext cx="1717920" cy="158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"/>
          <p:cNvPicPr/>
          <p:nvPr/>
        </p:nvPicPr>
        <p:blipFill>
          <a:blip r:embed="rId2"/>
          <a:stretch/>
        </p:blipFill>
        <p:spPr>
          <a:xfrm>
            <a:off x="3600000" y="2011320"/>
            <a:ext cx="1662480" cy="158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"/>
          <p:cNvPicPr/>
          <p:nvPr/>
        </p:nvPicPr>
        <p:blipFill>
          <a:blip r:embed="rId3"/>
          <a:stretch/>
        </p:blipFill>
        <p:spPr>
          <a:xfrm>
            <a:off x="1861920" y="4500000"/>
            <a:ext cx="2458080" cy="158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"/>
          <p:cNvPicPr/>
          <p:nvPr/>
        </p:nvPicPr>
        <p:blipFill>
          <a:blip r:embed="rId4"/>
          <a:stretch/>
        </p:blipFill>
        <p:spPr>
          <a:xfrm>
            <a:off x="6115320" y="4860000"/>
            <a:ext cx="2524680" cy="1588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"/>
          <p:cNvPicPr/>
          <p:nvPr/>
        </p:nvPicPr>
        <p:blipFill>
          <a:blip r:embed="rId5"/>
          <a:stretch/>
        </p:blipFill>
        <p:spPr>
          <a:xfrm>
            <a:off x="6369840" y="3880800"/>
            <a:ext cx="2090160" cy="75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"/>
          <p:cNvSpPr txBox="1"/>
          <p:nvPr/>
        </p:nvSpPr>
        <p:spPr>
          <a:xfrm>
            <a:off x="6840000" y="3213720"/>
            <a:ext cx="126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Academic articles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440000" y="1620000"/>
            <a:ext cx="1620000" cy="43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Repo code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600000" y="1620000"/>
            <a:ext cx="1620000" cy="43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Readme files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124000" y="4096440"/>
            <a:ext cx="19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/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Related websites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187560"/>
            <a:ext cx="8229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GB" sz="532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Automation logic</a:t>
            </a: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540000" y="1778040"/>
            <a:ext cx="8229600" cy="292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lang="en-GB" sz="3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• </a:t>
            </a: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Deterministic extraction aligns SPARQL with provenance and evidence.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• LLM selects/rephrases/generates NL + confidence + confidence rationale from aligned evidence.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• Expert validation for lower confidence pairs  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lang="en-GB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• This directly addresses the original task: expert-approved NL/SPARQL benchmark pairs.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187560"/>
            <a:ext cx="8229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GB" sz="532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Seeds.yaml</a:t>
            </a: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0" name=""/>
          <p:cNvPicPr/>
          <p:nvPr/>
        </p:nvPicPr>
        <p:blipFill>
          <a:blip r:embed="rId1"/>
          <a:stretch/>
        </p:blipFill>
        <p:spPr>
          <a:xfrm>
            <a:off x="18720" y="1656000"/>
            <a:ext cx="6500160" cy="412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"/>
          <p:cNvPicPr/>
          <p:nvPr/>
        </p:nvPicPr>
        <p:blipFill>
          <a:blip r:embed="rId2"/>
          <a:stretch/>
        </p:blipFill>
        <p:spPr>
          <a:xfrm>
            <a:off x="3240000" y="3276000"/>
            <a:ext cx="5901120" cy="355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187560"/>
            <a:ext cx="8229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GB" sz="532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Automation pipeline</a:t>
            </a: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972000" y="2030040"/>
            <a:ext cx="5868000" cy="452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lang="en-GB" sz="2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1. Seed KGs and source locations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lang="en-GB" sz="2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2. Extract SPARQL queries from sources (code, readme,  websites, papers) 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lang="en-GB" sz="2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3. Enrich the queries with NL evidence: sparql comments, paragraphs immediately preceding the code in docs, captions, CQ tables or bullet lists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lang="en-GB" sz="2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4. Execute queries and store run metadata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lang="en-GB" sz="2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5. Generate NL + confidence and merge back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lang="en-GB" sz="2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6. Pick the best pairs automatically based on LLM confidence and run status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lang="en-GB" sz="2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7. Manually validate/correct NL questions flagged for review</a:t>
            </a:r>
            <a:endParaRPr lang="en-GB" sz="2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187560"/>
            <a:ext cx="8229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GB" sz="532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Current results</a:t>
            </a: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5" name=""/>
          <p:cNvPicPr/>
          <p:nvPr/>
        </p:nvPicPr>
        <p:blipFill>
          <a:blip r:embed="rId1"/>
          <a:stretch/>
        </p:blipFill>
        <p:spPr>
          <a:xfrm>
            <a:off x="5040" y="2145240"/>
            <a:ext cx="9143640" cy="132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"/>
          <p:cNvPicPr/>
          <p:nvPr/>
        </p:nvPicPr>
        <p:blipFill>
          <a:blip r:embed="rId2"/>
          <a:stretch/>
        </p:blipFill>
        <p:spPr>
          <a:xfrm>
            <a:off x="-9000" y="3612960"/>
            <a:ext cx="4762080" cy="1371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187560"/>
            <a:ext cx="8229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GB" sz="532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Current results</a:t>
            </a: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8" name=""/>
          <p:cNvPicPr/>
          <p:nvPr/>
        </p:nvPicPr>
        <p:blipFill>
          <a:blip r:embed="rId1"/>
          <a:stretch/>
        </p:blipFill>
        <p:spPr>
          <a:xfrm>
            <a:off x="360" y="1411920"/>
            <a:ext cx="9143640" cy="5446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979560"/>
            <a:ext cx="8229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GB" sz="532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Next steps</a:t>
            </a: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2873520"/>
            <a:ext cx="8229600" cy="245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70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Triage by confidence + run failures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100000"/>
              </a:lnSpc>
              <a:spcBef>
                <a:spcPts val="170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Add KG discovery automation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100000"/>
              </a:lnSpc>
              <a:spcBef>
                <a:spcPts val="170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Add manual validation/correction UI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100000"/>
              </a:lnSpc>
              <a:spcBef>
                <a:spcPts val="170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Embeddings-based semantic matching?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979560"/>
            <a:ext cx="8229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GB" sz="532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Generalisation</a:t>
            </a:r>
            <a:endParaRPr lang="en-GB" sz="532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90400" y="2340000"/>
            <a:ext cx="73296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360000">
              <a:spcBef>
                <a:spcPts val="170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Generalises to other domains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60000">
              <a:spcBef>
                <a:spcPts val="170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Makes expert effort strategic and visible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60000">
              <a:spcBef>
                <a:spcPts val="170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ahoma"/>
              </a:rPr>
              <a:t>NL–SPARQL alignment for LLM interfaces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60000">
              <a:spcBef>
                <a:spcPts val="170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Clustering queries by semantic intent to enable interoperability measurements 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360000">
              <a:spcBef>
                <a:spcPts val="170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New KGs onboarding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</a:fillStyleLst>
      <a:lnStyleLst>
        <a:ln w="9525" cap="flat" cmpd="sng" algn="ctr"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6532</TotalTime>
  <Application>LibreOffice/25.8.4.2$MacOSX_AARCH64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2026-02-08T01:08:16Z</dcterms:created>
  <dc:creator>Codex</dc:creator>
  <dc:description/>
  <dc:language>en-GB</dc:language>
  <cp:lastModifiedBy/>
  <dcterms:modified xsi:type="dcterms:W3CDTF">2026-02-13T22:11:28Z</dcterms:modified>
  <cp:revision>8</cp:revision>
  <dc:subject/>
  <dc:title>Quagga Pipeline Prototype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i4>6</vt:i4>
  </property>
</Properties>
</file>