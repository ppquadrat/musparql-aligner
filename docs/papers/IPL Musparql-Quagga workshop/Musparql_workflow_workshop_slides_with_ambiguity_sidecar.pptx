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58c4586f1e4b30" /><Relationship Type="http://schemas.openxmlformats.org/officeDocument/2006/relationships/extended-properties" Target="/docProps/app.xml" Id="Rc7307059d5174981" /><Relationship Type="http://schemas.openxmlformats.org/officeDocument/2006/relationships/officeDocument" Target="/ppt/presentation.xml" Id="Rea862bfe1c2d4e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7f545c18844c3f"/>
  </p:sldMasterIdLst>
  <p:notesMasterIdLst>
    <p:notesMasterId xmlns:r="http://schemas.openxmlformats.org/officeDocument/2006/relationships" r:id="R38e3a7e5faef44fd"/>
  </p:notesMasterIdLst>
  <p:sldIdLst>
    <p:sldId xmlns:r="http://schemas.openxmlformats.org/officeDocument/2006/relationships" id="256" r:id="R2fd62898d1fc4567"/>
    <p:sldId xmlns:r="http://schemas.openxmlformats.org/officeDocument/2006/relationships" id="257" r:id="R4516b1242eba4306"/>
    <p:sldId xmlns:r="http://schemas.openxmlformats.org/officeDocument/2006/relationships" id="258" r:id="R04bc44bc2a554c6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825a88734c458a" /><Relationship Type="http://schemas.openxmlformats.org/officeDocument/2006/relationships/slideMaster" Target="/ppt/slideMasters/slideMaster1.xml" Id="R327f545c18844c3f" /><Relationship Type="http://schemas.openxmlformats.org/officeDocument/2006/relationships/notesMaster" Target="/ppt/notesMasters/notesMaster1.xml" Id="R38e3a7e5faef44fd" /><Relationship Type="http://schemas.openxmlformats.org/officeDocument/2006/relationships/presProps" Target="/ppt/presProps.xml" Id="R673ab7cb718648e2" /><Relationship Type="http://schemas.openxmlformats.org/officeDocument/2006/relationships/tableStyles" Target="/ppt/tableStyles.xml" Id="R9efe9a1c55174a34" /><Relationship Type="http://schemas.openxmlformats.org/officeDocument/2006/relationships/slide" Target="/ppt/slides/slide1.xml" Id="R2fd62898d1fc4567" /><Relationship Type="http://schemas.openxmlformats.org/officeDocument/2006/relationships/slide" Target="/ppt/slides/slide2.xml" Id="R4516b1242eba4306" /><Relationship Type="http://schemas.openxmlformats.org/officeDocument/2006/relationships/slide" Target="/ppt/slides/slide3.xml" Id="R04bc44bc2a554c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c0b3b8496246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e1b9306aec41ae" /><Relationship Type="http://schemas.openxmlformats.org/officeDocument/2006/relationships/notesMaster" Target="/ppt/notesMasters/notesMaster1.xml" Id="R5de0582c24d244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107942f2ea4dee" /><Relationship Type="http://schemas.openxmlformats.org/officeDocument/2006/relationships/notesMaster" Target="/ppt/notesMasters/notesMaster1.xml" Id="Rd1a91dc306ec47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a2da12e82645ba" /><Relationship Type="http://schemas.openxmlformats.org/officeDocument/2006/relationships/notesMaster" Target="/ppt/notesMasters/notesMaster1.xml" Id="R96c821d7f19542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 figure: docs/papers/scik-2026/scik-2026-musparql-workflow.svg and its paper-rendered PNG. Paper title used in the MTSR manuscript: ‘Provenance-Aware Curation of NL-SPARQL Evaluation Data for Domain Knowledge Graphs’, Polina Proutskova, 2026. Figure caption: The four-stage Musparql workflow. Human-authored SPARQL is collected with source provenance; existing natural-language evidence is aligned before new wording is formulated; expert review determines semantic and communicative adequacy; and publication separates compact scoring pairs from richer provenance. LLM assistance is confined to Stage 2 and cannot publish a benchmark item without Stage 3.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This slide enlarges Stages 2 and 3 from Figure 1 to introduce the live workshop demonstration. The three review prompts summarize the paper’s Human Review section.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sources: benchmark/v10/alternatives.jsonl, record jazzontology-0016; docs/DATA_MODEL.md; docs/LINGUISTIC_DIMENSIONS_WORKBENCH_SPEC.md. The accepted-alternative example normalizes a duplicated terminal question mark in the stored record. Talking point: the compact scoring file publishes one canonical question, while the public sidecar retains the validated literal wording and human-accepted alternatives with provenance. The linguistic-dimensions experiment compares two non-literal formulations against the literal anchor on naturalness, pragmatism, and room for interpretation.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6c6887bd6a415a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BABA4D23-1D6B-4EBB-9447-3DD450A6A8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90000"/>
              </a:lnSpc>
              <a:buNone/>
            </a:pPr>
            <a:endParaRPr sz="4400" b="0" u="none">
              <a:solidFill>
                <a:schemeClr val="dk1"/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5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41254E29-7101-47A0-BCA5-5C8EC9678D79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eb920c15cb4aee" /><Relationship Type="http://schemas.openxmlformats.org/officeDocument/2006/relationships/slideLayout" Target="/ppt/slideLayouts/slideLayout1.xml" Id="R0c3819ab63514f23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77A5C0F7-31FB-4C45-9AEC-B781B7709A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l">
              <a:lnSpc>
                <a:spcPct val="90000"/>
              </a:lnSpc>
              <a:buNone/>
              <a:defRPr sz="44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pPr indent="0" algn="l">
              <a:lnSpc>
                <a:spcPct val="9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rPr>
              <a:t>Click to edit the title text format</a:t>
            </a:r>
            <a:endParaRPr sz="4400" b="0" u="none">
              <a:solidFill>
                <a:schemeClr val="dk1"/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14716387-63D1-4FEC-871E-90C1AA36443C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</a:lstStyle>
          <a:p xmlns:a="http://schemas.openxmlformats.org/drawingml/2006/main"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the outline text format</a:t>
            </a:r>
            <a:endParaRPr sz="2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Outline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Outline Level</a:t>
            </a: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Outline Level</a:t>
            </a: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Outline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Sixth Outline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Seventh Outline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3819ab63514f23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b7b8db78b6473c" /><Relationship Type="http://schemas.openxmlformats.org/officeDocument/2006/relationships/image" Target="/ppt/media/image.png" Id="Re71f87d31cb54d87" /><Relationship Type="http://schemas.openxmlformats.org/officeDocument/2006/relationships/notesSlide" Target="/ppt/notesSlides/notesSlide1.xml" Id="Rb3810e53e1c14d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2a46d1092e457c" /><Relationship Type="http://schemas.openxmlformats.org/officeDocument/2006/relationships/image" Target="/ppt/media/image2.png" Id="R761aa565260f48c6" /><Relationship Type="http://schemas.openxmlformats.org/officeDocument/2006/relationships/notesSlide" Target="/ppt/notesSlides/notesSlide2.xml" Id="R5de126e6b28246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bba38bd6f545e9" /><Relationship Type="http://schemas.openxmlformats.org/officeDocument/2006/relationships/notesSlide" Target="/ppt/notesSlides/notesSlide3.xml" Id="Rde85c50857d744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1f87d31cb54d87"/>
          <a:stretch xmlns:a="http://schemas.openxmlformats.org/drawingml/2006/main"/>
        </p:blipFill>
        <p:spPr>
          <a:xfrm xmlns:a="http://schemas.openxmlformats.org/drawingml/2006/main">
            <a:off x="234720" y="228600"/>
            <a:ext cx="11721960" cy="4581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D4BD1A-0776-4D99-9BD6-D2C30B71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3960"/>
            <a:ext cx="10820160" cy="28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5B12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16560" rIns="90000" bIns="-1656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55AE72-7606-4753-AC4A-9A0A2907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09520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80" b="1" u="none">
                <a:solidFill>
                  <a:srgbClr val="A45B12"/>
                </a:solidFill>
                <a:latin typeface="Arial"/>
                <a:ea typeface="Arial"/>
                <a:cs typeface="Arial"/>
              </a:rPr>
              <a:t>WORKSHOP FOCUS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952E16-9227-4B10-8AD7-BA4924E3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53000"/>
            <a:ext cx="10820160" cy="523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320" b="1" u="none">
                <a:solidFill>
                  <a:srgbClr val="172033"/>
                </a:solidFill>
                <a:latin typeface="Arial"/>
                <a:ea typeface="Arial"/>
                <a:cs typeface="Arial"/>
              </a:rPr>
              <a:t>Human review turns provisional wording into benchmark data</a:t>
            </a:r>
            <a:endParaRPr sz="23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2D1998-9857-4324-91B4-BACB73B1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60"/>
            <a:ext cx="10820160" cy="55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3150" b="1" u="none">
                <a:solidFill>
                  <a:srgbClr val="172033"/>
                </a:solidFill>
                <a:latin typeface="Arial"/>
                <a:ea typeface="Arial"/>
                <a:cs typeface="Arial"/>
              </a:rPr>
              <a:t>Musparql</a:t>
            </a:r>
            <a:endParaRPr sz="31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479972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58DB5E-A9A0-48D4-9FD6-24A8B8EDC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60"/>
            <a:ext cx="10820160" cy="55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3150" b="1" u="none">
                <a:solidFill>
                  <a:srgbClr val="172033"/>
                </a:solidFill>
                <a:latin typeface="Arial"/>
                <a:ea typeface="Arial"/>
                <a:cs typeface="Arial"/>
              </a:rPr>
              <a:t>Musparql</a:t>
            </a:r>
            <a:endParaRPr sz="31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104394-3577-438C-81A2-C8463962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880"/>
            <a:ext cx="10820160" cy="30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650" b="1" u="none">
                <a:solidFill>
                  <a:srgbClr val="A45B12"/>
                </a:solidFill>
                <a:latin typeface="Arial"/>
                <a:ea typeface="Arial"/>
                <a:cs typeface="Arial"/>
              </a:rPr>
              <a:t>The review gate</a:t>
            </a:r>
            <a:endParaRPr sz="1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1aa565260f48c6"/>
          <a:stretch xmlns:a="http://schemas.openxmlformats.org/drawingml/2006/main"/>
        </p:blipFill>
        <p:spPr>
          <a:xfrm xmlns:a="http://schemas.openxmlformats.org/drawingml/2006/main">
            <a:off x="609480" y="1182600"/>
            <a:ext cx="6571800" cy="550188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2202E5-EE0C-4BEE-BF99-E143022D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680" y="1324080"/>
            <a:ext cx="37800" cy="4266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5B12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782232-9F8C-4456-8719-925D3BE5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920" y="1352520"/>
            <a:ext cx="3200040" cy="81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320" b="1" u="none">
                <a:solidFill>
                  <a:srgbClr val="172033"/>
                </a:solidFill>
                <a:latin typeface="Arial"/>
                <a:ea typeface="Arial"/>
                <a:cs typeface="Arial"/>
              </a:rPr>
              <a:t>Today we work at Stage 3</a:t>
            </a:r>
            <a:endParaRPr sz="23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5B6E4E-1FE4-4817-8376-71273D8E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920" y="2552760"/>
            <a:ext cx="3104640" cy="72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650" b="0" u="none">
                <a:solidFill>
                  <a:srgbClr val="475569"/>
                </a:solidFill>
                <a:latin typeface="Arial"/>
                <a:ea typeface="Arial"/>
                <a:cs typeface="Arial"/>
              </a:rPr>
              <a:t>Check whether the question matches the SPARQL</a:t>
            </a:r>
            <a:endParaRPr sz="1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CDE9DA-6074-4FED-B21C-80FA9CA3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920" y="3476520"/>
            <a:ext cx="3104640" cy="666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650" b="0" u="none">
                <a:solidFill>
                  <a:srgbClr val="475569"/>
                </a:solidFill>
                <a:latin typeface="Arial"/>
                <a:ea typeface="Arial"/>
                <a:cs typeface="Arial"/>
              </a:rPr>
              <a:t>Correct terminology and missing meaning</a:t>
            </a:r>
            <a:endParaRPr sz="1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1B15CA-72D7-4CA7-86FF-7138E3FD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920" y="4429080"/>
            <a:ext cx="3104640" cy="666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650" b="1" u="none">
                <a:solidFill>
                  <a:srgbClr val="A45B12"/>
                </a:solidFill>
                <a:latin typeface="Arial"/>
                <a:ea typeface="Arial"/>
                <a:cs typeface="Arial"/>
              </a:rPr>
              <a:t>Accept, rewrite or exclude the candidate</a:t>
            </a:r>
            <a:endParaRPr sz="1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697B1C-D05D-4ABA-B231-3B163F4F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920" y="5886360"/>
            <a:ext cx="3104640" cy="361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1" u="none">
                <a:solidFill>
                  <a:srgbClr val="172033"/>
                </a:solidFill>
                <a:latin typeface="Arial"/>
                <a:ea typeface="Arial"/>
                <a:cs typeface="Arial"/>
              </a:rPr>
              <a:t>Next: live workshop pipeline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87528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E2EEEA-C6EC-471F-AF03-BF5002CC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Musparql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A4C4F8-3AD3-46EF-A2B6-803F55E9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A45B12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A45B12"/>
                </a:solidFill>
                <a:latin typeface="Arial"/>
                <a:ea typeface="Arial"/>
                <a:cs typeface="Arial"/>
              </a:rPr>
              <a:t>The ambiguity sidecar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1EC5BB-2960-460E-B5AF-C0D1C7BD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676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2D6DB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D6DB3"/>
                </a:solidFill>
                <a:latin typeface="Arial"/>
                <a:ea typeface="Arial"/>
                <a:cs typeface="Arial"/>
              </a:rPr>
              <a:t>SCORING FILE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1B6635-78E0-4671-B385-91B4E8F0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676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One canonical question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A38920-2730-4F61-B9F3-19DE5025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676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42526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42526A"/>
                </a:solidFill>
                <a:latin typeface="Arial"/>
                <a:ea typeface="Arial"/>
                <a:cs typeface="Arial"/>
              </a:rPr>
              <a:t>“What tracks are on the release ‘On Broadway, Vol. 1’, and for each track, who performed it, when was it recorded, and where?”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EC54D2-B7F6-4C28-A7EC-24F89667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3225"/>
            <a:ext cx="676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E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E63CBE-2CB0-4C91-B850-8ED1D133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676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33754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37548"/>
                </a:solidFill>
                <a:latin typeface="Arial"/>
                <a:ea typeface="Arial"/>
                <a:cs typeface="Arial"/>
              </a:rPr>
              <a:t>PUBLIC SIDECAR · alternatives.jsonl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33156C-2CAE-4FDA-98EF-FCD6A338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676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The same query keeps multiple reviewed formulations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9A604E-108C-4B1D-BB6E-E2E339EA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2D6DB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D6DB3"/>
                </a:solidFill>
                <a:latin typeface="Arial"/>
                <a:ea typeface="Arial"/>
                <a:cs typeface="Arial"/>
              </a:rPr>
              <a:t>LITERAL REFERENCE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11501D-DD1A-4590-97AF-264BBFA4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124325"/>
            <a:ext cx="5372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42526A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42526A"/>
                </a:solidFill>
                <a:latin typeface="Arial"/>
                <a:ea typeface="Arial"/>
                <a:cs typeface="Arial"/>
              </a:rPr>
              <a:t>“What tracks are on the release … and for each track, which band performed it, when was it recorded, and where?”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E72322-6A4B-45DE-99E8-C839AC10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33754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37548"/>
                </a:solidFill>
                <a:latin typeface="Arial"/>
                <a:ea typeface="Arial"/>
                <a:cs typeface="Arial"/>
              </a:rPr>
              <a:t>ACCEPTED ALTERNATIVE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96C2A-E0A3-4188-BB72-80C7005F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886325"/>
            <a:ext cx="5372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42526A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42526A"/>
                </a:solidFill>
                <a:latin typeface="Arial"/>
                <a:ea typeface="Arial"/>
                <a:cs typeface="Arial"/>
              </a:rPr>
              <a:t>“Where, when and by whom were the tracks on the album ‘On Broadway, Vol. 1’ recorded?”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D3FF79-23FF-4E0C-87FA-590405A6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676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Each formulation remains linked to the same versioned SPARQL and review provenance.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8B81F4-0944-4DB4-B493-55DC0DDE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1381125"/>
            <a:ext cx="3810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5B1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04706E-CB89-4BBC-91D1-C1B697E1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438275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Why keep both layers?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5DEA4F-47E9-487C-9176-4C8C11E1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52625"/>
            <a:ext cx="320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42526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42526A"/>
                </a:solidFill>
                <a:latin typeface="Arial"/>
                <a:ea typeface="Arial"/>
                <a:cs typeface="Arial"/>
              </a:rPr>
              <a:t>The scoring benchmark stays simple. The sidecar preserves valid linguistic variation for audit and research.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196C88-6AC6-4986-9710-20DAB117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52775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A45B1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A45B12"/>
                </a:solidFill>
                <a:latin typeface="Arial"/>
                <a:ea typeface="Arial"/>
                <a:cs typeface="Arial"/>
              </a:rPr>
              <a:t>OUTLOOK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39D717-2FF0-4E05-BFD6-45380B2D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19475"/>
            <a:ext cx="320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Linguistic dimensions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6D6A09-F9A7-4EFE-AFC7-11D5A4FC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57625"/>
            <a:ext cx="320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42526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42526A"/>
                </a:solidFill>
                <a:latin typeface="Arial"/>
                <a:ea typeface="Arial"/>
                <a:cs typeface="Arial"/>
              </a:rPr>
              <a:t>Two non-literal formulations are rated against the literal anchor at 0.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04EC75-13CD-4C74-B5CA-F2631E0B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91050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D6DB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6DB3"/>
                </a:solidFill>
                <a:latin typeface="Arial"/>
                <a:ea typeface="Arial"/>
                <a:cs typeface="Arial"/>
              </a:rPr>
              <a:t>Naturalness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5633B6-7A8D-4F05-970A-84E3B172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38700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42526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2526A"/>
                </a:solidFill>
                <a:latin typeface="Arial"/>
                <a:ea typeface="Arial"/>
                <a:cs typeface="Arial"/>
              </a:rPr>
              <a:t>formal  ↔  fluent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3EFDF5-444B-49DB-92D2-EF4F1BC2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133975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D6DB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6DB3"/>
                </a:solidFill>
                <a:latin typeface="Arial"/>
                <a:ea typeface="Arial"/>
                <a:cs typeface="Arial"/>
              </a:rPr>
              <a:t>Pragmatism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19C762-13FB-4B19-9C35-754E129F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381625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42526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2526A"/>
                </a:solidFill>
                <a:latin typeface="Arial"/>
                <a:ea typeface="Arial"/>
                <a:cs typeface="Arial"/>
              </a:rPr>
              <a:t>exhaustive  ↔  salient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40F9C4-AD3B-4964-9308-DAE3EE30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676900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2D6DB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D6DB3"/>
                </a:solidFill>
                <a:latin typeface="Arial"/>
                <a:ea typeface="Arial"/>
                <a:cs typeface="Arial"/>
              </a:rPr>
              <a:t>Room for interpretation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E8F9EE-6829-46B7-814C-1038E536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924550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42526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2526A"/>
                </a:solidFill>
                <a:latin typeface="Arial"/>
                <a:ea typeface="Arial"/>
                <a:cs typeface="Arial"/>
              </a:rPr>
              <a:t>constrained  ↔  open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062335-470C-4DFC-924F-FAC38015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6229350"/>
            <a:ext cx="320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 i="1">
                <a:solidFill>
                  <a:srgbClr val="42526A"/>
                </a:solidFill>
                <a:latin typeface="Arial"/>
                <a:ea typeface="Arial"/>
                <a:cs typeface="Arial"/>
              </a:defRPr>
            </a:pPr>
            <a:r>
              <a:rPr sz="1200" b="0" i="1">
                <a:solidFill>
                  <a:srgbClr val="42526A"/>
                </a:solidFill>
                <a:latin typeface="Arial"/>
                <a:ea typeface="Arial"/>
                <a:cs typeface="Arial"/>
              </a:rPr>
              <a:t>More open does not mean better.</a:t>
            </a:r>
          </a:p>
        </p:txBody>
      </p:sp>
    </p:spTree>
    <p:extLst>
      <p:ext uri="{BB962C8B-B14F-4D97-AF65-F5344CB8AC3E}">
        <p14:creationId xmlns:p14="http://schemas.microsoft.com/office/powerpoint/2010/main" val="16482548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2026-09-15T22:36:16.6120000Z</dcterms:created>
  <dcterms:modified xsi:type="dcterms:W3CDTF">2026-09-15T22:36:16.6120000Z</dcterms:modified>
</coreProperties>
</file>