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76F71BD-90F2-4FCE-874A-EB346740640E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 figure: docs/papers/scik-2026/scik-2026-musparql-workflow.svg and its paper-rendered PNG. Paper title used in the MTSR manuscript: ‘Provenance-Aware Curation of NL-SPARQL Evaluation Data for Domain Knowledge Graphs’, Polina Proutskova, 2026. Figure caption: The four-stage Musparql workflow. Human-authored SPARQL is collected with source provenance; existing natural-language evidence is aligned before new wording is formulated; expert review determines semantic and communicative adequacy; and publication separates compact scoring pairs from richer provenance. LLM assistance is confined to Stage 2 and cannot publish a benchmark item without Stage 3.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enlarges Stages 2 and 3 from Figure 1 to introduce the live workshop demonstration. The three review prompts summarize the paper’s Human Review section.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en-GB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GB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234720" y="228600"/>
            <a:ext cx="11721960" cy="458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"/>
          <p:cNvSpPr/>
          <p:nvPr/>
        </p:nvSpPr>
        <p:spPr>
          <a:xfrm>
            <a:off x="685800" y="5133960"/>
            <a:ext cx="10820160" cy="28080"/>
          </a:xfrm>
          <a:prstGeom prst="rect">
            <a:avLst/>
          </a:prstGeom>
          <a:solidFill>
            <a:srgbClr val="A45B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685800" y="5257800"/>
            <a:ext cx="2095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GB" sz="1280" b="1" u="none" strike="noStrike">
                <a:solidFill>
                  <a:srgbClr val="A45B12"/>
                </a:solidFill>
                <a:effectLst/>
                <a:uFillTx/>
                <a:latin typeface="Arial"/>
                <a:ea typeface="Arial"/>
              </a:rPr>
              <a:t>WORKSHOP FOCUS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685800" y="5553000"/>
            <a:ext cx="108201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GB" sz="232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Human review turns provisional wording into benchmark data</a:t>
            </a:r>
            <a:endParaRPr lang="en-GB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85800" y="333360"/>
            <a:ext cx="108201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GB" sz="315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Musparql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685800" y="333360"/>
            <a:ext cx="108201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GB" sz="315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Musparql</a:t>
            </a:r>
            <a:endParaRPr lang="en-GB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5800" y="866880"/>
            <a:ext cx="10820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GB" sz="1650" b="1" u="none" strike="noStrike">
                <a:solidFill>
                  <a:srgbClr val="A45B12"/>
                </a:solidFill>
                <a:effectLst/>
                <a:uFillTx/>
                <a:latin typeface="Arial"/>
                <a:ea typeface="Arial"/>
              </a:rPr>
              <a:t>The review gate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609480" y="1182600"/>
            <a:ext cx="6571800" cy="550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"/>
          <p:cNvSpPr/>
          <p:nvPr/>
        </p:nvSpPr>
        <p:spPr>
          <a:xfrm>
            <a:off x="7924680" y="1324080"/>
            <a:ext cx="37800" cy="4266720"/>
          </a:xfrm>
          <a:prstGeom prst="rect">
            <a:avLst/>
          </a:prstGeom>
          <a:solidFill>
            <a:srgbClr val="A45B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8305920" y="1352520"/>
            <a:ext cx="320004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GB" sz="232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Today we work at Stage 3</a:t>
            </a:r>
            <a:endParaRPr lang="en-GB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8305920" y="2552760"/>
            <a:ext cx="310464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GB" sz="165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Check whether the question matches the SPARQL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305920" y="3476520"/>
            <a:ext cx="31046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GB" sz="165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Correct terminology and missing meaning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8305920" y="4429080"/>
            <a:ext cx="31046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GB" sz="1650" b="1" u="none" strike="noStrike">
                <a:solidFill>
                  <a:srgbClr val="A45B12"/>
                </a:solidFill>
                <a:effectLst/>
                <a:uFillTx/>
                <a:latin typeface="Arial"/>
                <a:ea typeface="Arial"/>
              </a:rPr>
              <a:t>Accept, rewrite or exclude the candidate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8305920" y="5886360"/>
            <a:ext cx="31046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GB" sz="1350" b="1" u="none" strike="noStrike">
                <a:solidFill>
                  <a:srgbClr val="172033"/>
                </a:solidFill>
                <a:effectLst/>
                <a:uFillTx/>
                <a:latin typeface="Arial"/>
                <a:ea typeface="Arial"/>
              </a:rPr>
              <a:t>Next: live workshop pipeline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2026-09-12T20:00:02Z</dcterms:created>
  <dc:creator>Walnut Exporter</dc:creator>
  <dc:description/>
  <dc:language>en-GB</dc:language>
  <cp:lastModifiedBy/>
  <dcterms:modified xsi:type="dcterms:W3CDTF">2026-09-12T21:15:09Z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